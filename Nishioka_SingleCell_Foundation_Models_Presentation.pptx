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0" i="0">
                <a:solidFill>
                  <a:srgbClr val="E8E8EC"/>
                </a:solidFill>
                <a:latin typeface="Calibri Light"/>
              </a:defRPr>
            </a:pPr>
            <a:r>
              <a:t>Understanding the Limits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Single-Cell Foundation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2ECCA8"/>
                </a:solidFill>
                <a:latin typeface="Calibri"/>
              </a:defRPr>
            </a:pPr>
            <a:r>
              <a:t>on Downstream 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14800"/>
            <a:ext cx="2743200" cy="27432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Keisuke Nishioka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A9AA8"/>
                </a:solidFill>
                <a:latin typeface="Calibri"/>
              </a:defRPr>
            </a:pPr>
            <a:r>
              <a:t>Student ID: 10081049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A9AA8"/>
                </a:solidFill>
                <a:latin typeface="Calibri"/>
              </a:defRPr>
            </a:pPr>
            <a:r>
              <a:t>AI Foundation Models in Biomedicine  |  WiSe 2025/26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17DC1"/>
                </a:solidFill>
                <a:latin typeface="Calibri"/>
              </a:defRPr>
            </a:pPr>
            <a:r>
              <a:t>Leibniz University of Hannover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252545"/>
                </a:solidFill>
                <a:latin typeface="Calibri"/>
              </a:defRPr>
            </a:pPr>
            <a:r>
              <a:t>scRNA</a:t>
            </a:r>
            <a:br/>
            <a:r>
              <a:t>GPT</a:t>
            </a:r>
            <a:br/>
            <a:r>
              <a:t>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2/20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463040"/>
            <a:ext cx="502920" cy="502920"/>
          </a:xfrm>
          <a:prstGeom prst="ellipse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556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9AA8"/>
                </a:solidFill>
                <a:latin typeface="Calibri"/>
              </a:defRPr>
            </a:pPr>
            <a:r>
              <a:t>Why evaluate single-cell foundation models?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1965960"/>
            <a:ext cx="18288" cy="27432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Background &amp; Related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32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9AA8"/>
                </a:solidFill>
                <a:latin typeface="Calibri"/>
              </a:defRPr>
            </a:pPr>
            <a:r>
              <a:t>Geneformer, scGPT, scFoundation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2743200"/>
            <a:ext cx="18288" cy="27432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Research Hypothesis &amp;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10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9AA8"/>
                </a:solidFill>
                <a:latin typeface="Calibri"/>
              </a:defRPr>
            </a:pPr>
            <a:r>
              <a:t>Unified evaluation protocol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520440"/>
            <a:ext cx="18288" cy="27432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3794760"/>
            <a:ext cx="502920" cy="502920"/>
          </a:xfrm>
          <a:prstGeom prst="ellipse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87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9AA8"/>
                </a:solidFill>
                <a:latin typeface="Calibri"/>
              </a:defRPr>
            </a:pPr>
            <a:r>
              <a:t>Datasets, models, and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4297680"/>
            <a:ext cx="18288" cy="27432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572000"/>
            <a:ext cx="502920" cy="502920"/>
          </a:xfrm>
          <a:prstGeom prst="ellipse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Results &amp;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9AA8"/>
                </a:solidFill>
                <a:latin typeface="Calibri"/>
              </a:defRPr>
            </a:pPr>
            <a:r>
              <a:t>Frozen vs. fine-tuned performance comparison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5074920"/>
            <a:ext cx="18288" cy="27432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5349240"/>
            <a:ext cx="502920" cy="502920"/>
          </a:xfrm>
          <a:prstGeom prst="ellipse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Discussion &amp; 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41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9AA8"/>
                </a:solidFill>
                <a:latin typeface="Calibri"/>
              </a:defRPr>
            </a:pPr>
            <a:r>
              <a:t>Key findings and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Why evaluate single-cell foundation models?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3/20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029200" cy="20116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182880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17DC1"/>
                </a:solidFill>
                <a:latin typeface="Calibri"/>
              </a:defRPr>
            </a:pPr>
            <a:r>
              <a:t>The Foundation Model Revolution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Transformer architectures have transformed scRNA-seq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Large-scale pretraining on millions of transcriptomes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Promise of transferable representations for downstream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Multiple competing models: Geneformer, scGPT, scFoundation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45720" cy="1828800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The Evaluation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Reported performances are difficult to 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Heterogeneous datasets &amp; preprocessing pipelines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Different fine-tuning strategies across papers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Unclear when pretraining provides real advantages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977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9B72CF"/>
                </a:solidFill>
                <a:latin typeface="Calibri"/>
              </a:defRPr>
            </a:pPr>
            <a:r>
              <a:t>Key Research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Q1  What biological information is robustly encoded during pretraining?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Q2  Under what conditions do these representations fail to generalize?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Q3  How do frozen representations compare to fine-tuned models?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Single-cell transcriptomics &amp; foundation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4/20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029200" cy="1828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164592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17DC1"/>
                </a:solidFill>
                <a:latin typeface="Calibri"/>
              </a:defRPr>
            </a:pPr>
            <a:r>
              <a:t>Single-Cell RNA Sequencing (scRNA-seq)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Measures gene expression at individual cell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Reveals cellular heterogeneity within tissues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Data: sparse count matrices (cells x genes)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Challenge: high dimensionality, noise, batch effects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1828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45720" cy="164592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CCA8"/>
                </a:solidFill>
                <a:latin typeface="Calibri"/>
              </a:defRPr>
            </a:pPr>
            <a:r>
              <a:t>Foundation Model Paradigm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Pretrain on massive unlabeled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Learn general biological representations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Transfer to diverse downstream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Analogous to BERT/GPT in NLP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10698480" cy="4572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1">
                <a:solidFill>
                  <a:srgbClr val="1B1B2F"/>
                </a:solidFill>
                <a:latin typeface="Calibri"/>
              </a:defRPr>
            </a:pPr>
            <a:r>
              <a:t>Core Idea: Pretrained representations should capture biological structure and enable efficient adaptation to new tasks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828800" cy="1097280"/>
          </a:xfrm>
          <a:prstGeom prst="round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Raw scRNA-seq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Count Matrix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572000"/>
            <a:ext cx="1828800" cy="1097280"/>
          </a:xfrm>
          <a:prstGeom prst="round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Pretrained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572000"/>
            <a:ext cx="1828800" cy="109728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Cell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572000"/>
            <a:ext cx="1828800" cy="1097280"/>
          </a:xfrm>
          <a:prstGeom prst="round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Downstream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Classifier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4572000"/>
            <a:ext cx="1828800" cy="1097280"/>
          </a:xfrm>
          <a:prstGeom prst="round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Cell Type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39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9A9A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19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9A9A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9A9A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79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9A9AA8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Models Under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Three representative single-cell foundation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5/20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474720" cy="438912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474720" cy="73152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Geneformer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DDDDEE"/>
                </a:solidFill>
                <a:latin typeface="Calibri"/>
              </a:defRPr>
            </a:pPr>
            <a:r>
              <a:t>Theodoris et al., Nature 2023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441448"/>
            <a:ext cx="109728" cy="109728"/>
          </a:xfrm>
          <a:prstGeom prst="ellipse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Pretrained on 30M human transcriptomes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2944368"/>
            <a:ext cx="109728" cy="109728"/>
          </a:xfrm>
          <a:prstGeom prst="ellipse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880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Rank-value encoding of gene expression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447288"/>
            <a:ext cx="109728" cy="109728"/>
          </a:xfrm>
          <a:prstGeom prst="ellipse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383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104M parameters (V2)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950208"/>
            <a:ext cx="109728" cy="109728"/>
          </a:xfrm>
          <a:prstGeom prst="ellipse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Strong transfer learning across tasks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1371600"/>
            <a:ext cx="3474720" cy="438912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1371600"/>
            <a:ext cx="3474720" cy="73152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scGPT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DDDDEE"/>
                </a:solidFill>
                <a:latin typeface="Calibri"/>
              </a:defRPr>
            </a:pPr>
            <a:r>
              <a:t>Cui et al., Nature Methods 2024</a:t>
            </a:r>
          </a:p>
        </p:txBody>
      </p:sp>
      <p:sp>
        <p:nvSpPr>
          <p:cNvPr id="25" name="Oval 24"/>
          <p:cNvSpPr/>
          <p:nvPr/>
        </p:nvSpPr>
        <p:spPr>
          <a:xfrm>
            <a:off x="4709159" y="2441448"/>
            <a:ext cx="109728" cy="109728"/>
          </a:xfrm>
          <a:prstGeom prst="ellipse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Generative pretraining objective</a:t>
            </a:r>
          </a:p>
        </p:txBody>
      </p:sp>
      <p:sp>
        <p:nvSpPr>
          <p:cNvPr id="27" name="Oval 26"/>
          <p:cNvSpPr/>
          <p:nvPr/>
        </p:nvSpPr>
        <p:spPr>
          <a:xfrm>
            <a:off x="4709159" y="2944368"/>
            <a:ext cx="109728" cy="109728"/>
          </a:xfrm>
          <a:prstGeom prst="ellipse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59" y="2880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Masked gene expression prediction</a:t>
            </a:r>
          </a:p>
        </p:txBody>
      </p:sp>
      <p:sp>
        <p:nvSpPr>
          <p:cNvPr id="29" name="Oval 28"/>
          <p:cNvSpPr/>
          <p:nvPr/>
        </p:nvSpPr>
        <p:spPr>
          <a:xfrm>
            <a:off x="4709159" y="3447288"/>
            <a:ext cx="109728" cy="109728"/>
          </a:xfrm>
          <a:prstGeom prst="ellipse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3383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Multi-omics integration capability</a:t>
            </a:r>
          </a:p>
        </p:txBody>
      </p:sp>
      <p:sp>
        <p:nvSpPr>
          <p:cNvPr id="31" name="Oval 30"/>
          <p:cNvSpPr/>
          <p:nvPr/>
        </p:nvSpPr>
        <p:spPr>
          <a:xfrm>
            <a:off x="4709159" y="3950208"/>
            <a:ext cx="109728" cy="109728"/>
          </a:xfrm>
          <a:prstGeom prst="ellipse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Batch correction &amp; cell annotation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9" y="1371600"/>
            <a:ext cx="3474720" cy="438912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599" y="1371600"/>
            <a:ext cx="3474720" cy="73152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scFoundation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9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DDDDEE"/>
                </a:solidFill>
                <a:latin typeface="Calibri"/>
              </a:defRPr>
            </a:pPr>
            <a:r>
              <a:t>Hao et al., Nature Methods 2024</a:t>
            </a:r>
          </a:p>
        </p:txBody>
      </p:sp>
      <p:sp>
        <p:nvSpPr>
          <p:cNvPr id="37" name="Oval 36"/>
          <p:cNvSpPr/>
          <p:nvPr/>
        </p:nvSpPr>
        <p:spPr>
          <a:xfrm>
            <a:off x="8458199" y="2441448"/>
            <a:ext cx="109728" cy="109728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799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Trained on tens of millions of cells</a:t>
            </a:r>
          </a:p>
        </p:txBody>
      </p:sp>
      <p:sp>
        <p:nvSpPr>
          <p:cNvPr id="39" name="Oval 38"/>
          <p:cNvSpPr/>
          <p:nvPr/>
        </p:nvSpPr>
        <p:spPr>
          <a:xfrm>
            <a:off x="8458199" y="2944368"/>
            <a:ext cx="109728" cy="109728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799" y="2880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Largest scale pretraining to date</a:t>
            </a:r>
          </a:p>
        </p:txBody>
      </p:sp>
      <p:sp>
        <p:nvSpPr>
          <p:cNvPr id="41" name="Oval 40"/>
          <p:cNvSpPr/>
          <p:nvPr/>
        </p:nvSpPr>
        <p:spPr>
          <a:xfrm>
            <a:off x="8458199" y="3447288"/>
            <a:ext cx="109728" cy="109728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799" y="3383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Competitive benchmark results</a:t>
            </a:r>
          </a:p>
        </p:txBody>
      </p:sp>
      <p:sp>
        <p:nvSpPr>
          <p:cNvPr id="43" name="Oval 42"/>
          <p:cNvSpPr/>
          <p:nvPr/>
        </p:nvSpPr>
        <p:spPr>
          <a:xfrm>
            <a:off x="8458199" y="3950208"/>
            <a:ext cx="109728" cy="109728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799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Not publicly available (limitation)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943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417DC1"/>
                </a:solidFill>
                <a:latin typeface="Calibri"/>
              </a:defRPr>
            </a:pPr>
            <a:r>
              <a:t>✓ Evaluated (Frozen + Fine-tuned)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943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ECCA8"/>
                </a:solidFill>
                <a:latin typeface="Calibri"/>
              </a:defRPr>
            </a:pPr>
            <a:r>
              <a:t>✓ Evaluated (Frozen only)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943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✗ Not available for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Research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6/20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645920"/>
            <a:ext cx="9418320" cy="2011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645920"/>
            <a:ext cx="73152" cy="201168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737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417DC1"/>
                </a:solidFill>
                <a:latin typeface="Calibri"/>
              </a:defRPr>
            </a:pPr>
            <a:r>
              <a:t>Central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9456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 i="1">
                <a:solidFill>
                  <a:srgbClr val="2D2D3F"/>
                </a:solidFill>
                <a:latin typeface="Calibri"/>
              </a:defRPr>
            </a:pPr>
            <a:r>
              <a:t>Foundation models provide strong advantages when downstream data aligns with the pretraining distribution, but their benefits diminish under domain shift, where representation quality rather than task-specific optimization becomes decisive.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4846320" cy="1828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06240"/>
            <a:ext cx="45720" cy="164592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CCA8"/>
                </a:solidFill>
                <a:latin typeface="Calibri"/>
              </a:defRPr>
            </a:pPr>
            <a:r>
              <a:t>H1: Fine-tuning &gt; Frozen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Frozen representations capture general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27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But miss task-specific nuances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286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End-to-end optimization should significantly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297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improve downstream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14800"/>
            <a:ext cx="4846320" cy="1828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206240"/>
            <a:ext cx="45720" cy="1645920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H2: Domain Shift Reduces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Cross-dataset evaluation (PBMC → Tabula Sapiens)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27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Performance degradation under distribution 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286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Representation quality becomes the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297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Model architecture matters less than data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Unified evaluation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7/20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08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Design Principle: All components except the pretrained encoder are kept identical across experiments.</a:t>
            </a:r>
            <a:br/>
            <a:r>
              <a:t>This isolates the contribution of pretraining from other experimental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417DC1"/>
                </a:solidFill>
                <a:latin typeface="Calibri"/>
              </a:defRPr>
            </a:pPr>
            <a:r>
              <a:t>Regime 1: Frozen Representations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1. Extract embeddings from pretrained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2. No weight updates to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3. Train lightweight classifier (LogReg/XGBoost)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4. Evaluate on held-out test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ECCA8"/>
                </a:solidFill>
                <a:latin typeface="Calibri"/>
              </a:defRPr>
            </a:pPr>
            <a:r>
              <a:t>Regime 2: End-to-End Fine-tuning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1. Initialize with pretrained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2. Fine-tune all parameters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3. Train for 3 epochs, lr = 5e-5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4. Stratified splits: 80/10/10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2560320"/>
            <a:ext cx="18288" cy="201168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B1B2F"/>
                </a:solidFill>
                <a:latin typeface="Calibri"/>
              </a:defRPr>
            </a:pPr>
            <a:r>
              <a:t>Goal: Separate Representation Quality from Downstream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By comparing frozen vs. fine-tuned performance, we can measure how much of the model's usefulness comes from the pretrained representations vs. task-specific adaptation.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Dataset: PBMC3k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Primary evaluation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8/20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256032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17DC1"/>
                </a:solidFill>
                <a:latin typeface="Calibri"/>
              </a:defRPr>
            </a:pPr>
            <a:r>
              <a:t>10x Genomics PBMC3k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Subset of PBMC 68k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2,700 peripheral blood mononuclear 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2,000 highly variable genes selected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Well-curated cell type annotations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87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Standard benchmark in single-cell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88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Reproducible comparison with prior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Cell Type 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74519"/>
            <a:ext cx="4572000" cy="32918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92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Cell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928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8928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Proportion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221991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402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T cells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402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1,170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240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43.3%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569463"/>
            <a:ext cx="4572000" cy="329184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5877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Monocytes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58775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470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58775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17.4%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916935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93522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NK cells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9352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470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93522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17.4%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264407"/>
            <a:ext cx="4572000" cy="329184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28269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B cells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8269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360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2826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13.3%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611879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63016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63016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215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6301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8.0%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959351"/>
            <a:ext cx="4572000" cy="329184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977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Platelet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9776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977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0.6%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663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86F51"/>
                </a:solidFill>
                <a:latin typeface="Calibri"/>
              </a:defRPr>
            </a:pPr>
            <a:r>
              <a:t>⚠  Class Imbalance Challenge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4983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Platelet class has only 15 cells (0.6%) vs. T cells with 1,170 (43.3%). This 78x imbalance tests the model's robustness to rare cell types. Macro F1 is used alongside accuracy to account for this.</a:t>
            </a:r>
          </a:p>
        </p:txBody>
      </p:sp>
      <p:pic>
        <p:nvPicPr>
          <p:cNvPr id="50" name="Picture 49" descr="umap_labels_pbmc3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577840"/>
            <a:ext cx="91440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Quantifying 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9/20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029200" cy="20116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182880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17DC1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Overall fraction of correct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Acc = (TP + TN) /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Intuitive but sensitive to 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Dominant class can inflate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45720" cy="182880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CCA8"/>
                </a:solidFill>
                <a:latin typeface="Calibri"/>
              </a:defRPr>
            </a:pPr>
            <a:r>
              <a:t>Macro 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Average F1 across all classes (unweighted)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F1 = 2 × (Prec × Rec) / (Prec + Rec)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Macro F1 = (1/C) ∑ F1_c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Treats all classes equally regardless of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1B2F"/>
                </a:solidFill>
                <a:latin typeface="Calibri"/>
              </a:defRPr>
            </a:pPr>
            <a:r>
              <a:t>Additional Analysis Methods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17DC1"/>
                </a:solidFill>
                <a:latin typeface="Calibri"/>
              </a:defRPr>
            </a:pPr>
            <a:r>
              <a:t>UMAP Visualization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297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Low-dimensional projection of cell embeddings to assess cluster quality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846320"/>
            <a:ext cx="137160" cy="137160"/>
          </a:xfrm>
          <a:prstGeom prst="ellipse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CCA8"/>
                </a:solidFill>
                <a:latin typeface="Calibri"/>
              </a:defRPr>
            </a:pPr>
            <a:r>
              <a:t>Confusion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Identify systematic misclassification patterns between cell types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349240"/>
            <a:ext cx="137160" cy="13716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9B72CF"/>
                </a:solidFill>
                <a:latin typeface="Calibri"/>
              </a:defRPr>
            </a:pPr>
            <a:r>
              <a:t>Per-Class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Precision, recall, F1 for each cell type to find failure modes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852160"/>
            <a:ext cx="137160" cy="137160"/>
          </a:xfrm>
          <a:prstGeom prst="ellipse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Seed Sweep (30 runs)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806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Statistical robustness assessment with mean ± std over 30 seeds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UMAP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Ground truth cell types in PBMC3k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10/20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pic>
        <p:nvPicPr>
          <p:cNvPr id="9" name="Picture 8" descr="umap_labels_pbmc3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Left: Leiden clustering on raw data shows well-separated clusters.  Right: Cell type annotations confirm 6 distinct populations. Note the clear separation of B cells and Monocytes, while T cells and NK cells show partial overlap.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Geneformer Frozen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UMAP of pretrained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11/20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pic>
        <p:nvPicPr>
          <p:cNvPr id="9" name="Picture 8" descr="umap_geneformer_emb_pbmc3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5029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0" y="1371600"/>
            <a:ext cx="5486400" cy="32004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45720" cy="3017520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Observation: Poor Cluster 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83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Cell types heavily overlap in embedding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842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No clear boundaries between populations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854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T, NK, B cells are intermixed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865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Suggests frozen representations 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58775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  cell-type-discriminative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889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126480" y="299008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Implication: A lightweight classifier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9125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these embeddings cannot recover 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9242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decision boundaries → ~61%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846320"/>
            <a:ext cx="5486400" cy="9144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937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86F51"/>
                </a:solidFill>
                <a:latin typeface="Calibri"/>
              </a:defRPr>
            </a:pPr>
            <a:r>
              <a:t>Compare with ground truth UMAP: the raw data (with standard preprocessing) shows much better separation than the Geneformer embeddings!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scGPT Frozen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UMAP of pretrained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12/20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pic>
        <p:nvPicPr>
          <p:cNvPr id="9" name="Picture 8" descr="umap_sc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5029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0" y="1371600"/>
            <a:ext cx="5486400" cy="32004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45720" cy="301752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CCA8"/>
                </a:solidFill>
                <a:latin typeface="Calibri"/>
              </a:defRPr>
            </a:pPr>
            <a:r>
              <a:t>Observation: Partial 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83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Monocyte/DC cluster is well separated (bottom)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842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B cells form a distinct cluster (right)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854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T and NK cells overlap significantly (top center)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865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Platelets isolated (top left, low count)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58775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126480" y="27889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Better than Geneformer frozen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9008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but still insufficient for high-accuracy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9125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classification without fine-tuning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846320"/>
            <a:ext cx="5486400" cy="9144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937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ECCA8"/>
                </a:solidFill>
                <a:latin typeface="Calibri"/>
              </a:defRPr>
            </a:pPr>
            <a:r>
              <a:t>scGPT shows better embedding structure than Geneformer, particularly for Monocytes and B cells. However, the T/NK overlap remains a challenge.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Results: Frozen Representations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Classification with lightweight classifiers on frozen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13/20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45920"/>
            <a:ext cx="9418320" cy="438912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103120"/>
            <a:ext cx="9418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Geneformer (Frozen)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LogReg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61.3%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0.428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560320"/>
            <a:ext cx="9418320" cy="43891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scGPT (Frozen)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60.0%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0.294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B1B2F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• Similar accuracy (~60%) for both models — neither strongly discriminates cell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2D2D3F"/>
                </a:solidFill>
                <a:latin typeface="Calibri"/>
              </a:defRPr>
            </a:pPr>
            <a:r>
              <a:t>• Geneformer has higher Macro F1 (0.428 vs 0.294) — better handling of minority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6F51"/>
                </a:solidFill>
                <a:latin typeface="Calibri"/>
              </a:defRPr>
            </a:pPr>
            <a:r>
              <a:t>• Low Macro F1 indicates poor performance on rare cell types (DC, Platelet)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6F51"/>
                </a:solidFill>
                <a:latin typeface="Calibri"/>
              </a:defRPr>
            </a:pPr>
            <a:r>
              <a:t>• Both models far below state-of-the-art for PBMC classification (~95%+)</a:t>
            </a:r>
          </a:p>
        </p:txBody>
      </p:sp>
      <p:pic>
        <p:nvPicPr>
          <p:cNvPr id="29" name="Picture 28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303520"/>
            <a:ext cx="82296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Confusion Matrix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Systematic misclassification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14/20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pic>
        <p:nvPicPr>
          <p:cNvPr id="9" name="Picture 8" descr="confusion_geneformer_pbmc3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1148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417DC1"/>
                </a:solidFill>
                <a:latin typeface="Calibri"/>
              </a:defRPr>
            </a:pPr>
            <a:r>
              <a:t>Geneformer (Frozen) — Acc: 61.3%</a:t>
            </a:r>
          </a:p>
        </p:txBody>
      </p:sp>
      <p:pic>
        <p:nvPicPr>
          <p:cNvPr id="11" name="Picture 10" descr="confusion_sc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41148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912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CCA8"/>
                </a:solidFill>
                <a:latin typeface="Calibri"/>
              </a:defRPr>
            </a:pPr>
            <a:r>
              <a:t>scGPT (Frozen) — Acc: 60.0%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371600"/>
            <a:ext cx="3200400" cy="438912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463040"/>
            <a:ext cx="45720" cy="420624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9B72CF"/>
                </a:solidFill>
                <a:latin typeface="Calibri"/>
              </a:defRPr>
            </a:pPr>
            <a:r>
              <a:t>Misclassification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783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Geneformer: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842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 NK → T (38 errors)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18541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 Mono → T (27 errors)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3865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 B → T (17 errors)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877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961120" y="2788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scGPT: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9900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 NK → T (18 errors)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1912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 DC → Mono (7 errors)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3924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961120" y="3593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Common: T cell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794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acts as an 'attractor'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995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for misclassifications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Per-Class 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Detailed breakdown by cell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15/20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47120" cy="384048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89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Cell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389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389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GF Prec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389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GF Rec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389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GF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scGPT Prec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scGPT Rec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scGPT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051560"/>
            <a:ext cx="3291839" cy="301752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1069848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Geneformer (Frozen)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051560"/>
            <a:ext cx="3566160" cy="301752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0698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scGPT (Frozen)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73936"/>
            <a:ext cx="11247120" cy="34747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792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2D3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17922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1792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0.741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1792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0.556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1792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792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1.000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792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792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0.971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139696"/>
            <a:ext cx="11247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2D3F"/>
                </a:solidFill>
                <a:latin typeface="Calibri"/>
              </a:defRPr>
            </a:pPr>
            <a:r>
              <a:t>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21579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0.442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0.528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1579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1579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0.791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1579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0.861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505456"/>
            <a:ext cx="11247120" cy="34747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523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2D3F"/>
                </a:solidFill>
                <a:latin typeface="Calibri"/>
              </a:defRPr>
            </a:pPr>
            <a:r>
              <a:t>Mono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25237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2523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0.696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2523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0.585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2523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25237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25237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0.947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5237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0.937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871216"/>
            <a:ext cx="11247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889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2D3F"/>
                </a:solidFill>
                <a:latin typeface="Calibri"/>
              </a:defRPr>
            </a:pPr>
            <a:r>
              <a:t>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28895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51760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0.510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39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0.532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0.521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2889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0.938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2889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889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0.869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3236976"/>
            <a:ext cx="11247120" cy="34747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255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2D3F"/>
                </a:solidFill>
                <a:latin typeface="Calibri"/>
              </a:defRPr>
            </a:pPr>
            <a:r>
              <a:t>Platelet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32552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3255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1.000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3255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0.667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6320" y="3255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2552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0.667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32552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0.667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32552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0.667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602736"/>
            <a:ext cx="11247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2D3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0" y="36210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51760" y="3621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0.665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49039" y="3621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0.791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6320" y="3621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0.723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3621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0.898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0" y="3621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0.983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621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0.939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9B72C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scGPT consistently outperforms Geneformer across all major cell types (F1: 0.86–0.97 vs 0.52–0.72)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4892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Geneformer struggles most with NK cells (F1=0.521) and DC (F1=0.528)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5212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scGPT achieves near-perfect B cell classification (F1=0.971, Precision=1.0)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553211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Platelet classification is unreliable for both models due to extremely low support (n=3)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T cells show high recall but low precision in Geneformer → other types misclassified as 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Statistical Robustness: Seed Sweep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30 independent runs with different random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16/20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463040"/>
            <a:ext cx="1033272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490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Geneformer (mean±std)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490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scGPT (mean±std)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90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Δ (scGPT − GF)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892807"/>
            <a:ext cx="10332720" cy="43891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385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D2D3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385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0.694 ± 0.020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0.906 ± 0.012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9385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CCA8"/>
                </a:solidFill>
                <a:latin typeface="Calibri"/>
              </a:defRPr>
            </a:pPr>
            <a:r>
              <a:t>+0.212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350007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3957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D2D3F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957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0.642 ± 0.049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957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0.886 ± 0.027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957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CCA8"/>
                </a:solidFill>
                <a:latin typeface="Calibri"/>
              </a:defRPr>
            </a:pPr>
            <a:r>
              <a:t>+0.244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807207"/>
            <a:ext cx="10332720" cy="43891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8529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D2D3F"/>
                </a:solidFill>
                <a:latin typeface="Calibri"/>
              </a:defRPr>
            </a:pPr>
            <a:r>
              <a:t>Macro F1 (no Platelet)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529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0.657 ± 0.021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8529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0.890 ± 0.015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8529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CCA8"/>
                </a:solidFill>
                <a:latin typeface="Calibri"/>
              </a:defRPr>
            </a:pPr>
            <a:r>
              <a:t>+0.233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B1B2F"/>
                </a:solidFill>
                <a:latin typeface="Calibri"/>
              </a:defRPr>
            </a:pPr>
            <a:r>
              <a:t>Per-Class F1 (30-run average)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886200"/>
            <a:ext cx="5943600" cy="32004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895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Cell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895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GF 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95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scGPT F1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895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ΔF1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224528"/>
            <a:ext cx="5943600" cy="27432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33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233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0.764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233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233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-0.164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517136"/>
            <a:ext cx="5943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526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0.696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526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526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-0.257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809744"/>
            <a:ext cx="5943600" cy="27432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818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Mono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818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0.700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818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0.907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818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-0.208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5102352"/>
            <a:ext cx="5943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1114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NK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51114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0.581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51114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0.861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1114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-0.280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394960"/>
            <a:ext cx="5943600" cy="27432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404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DC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5404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0.542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5404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5404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-0.259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687568"/>
            <a:ext cx="5943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696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Platelet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5696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0.567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5696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2D3F"/>
                </a:solidFill>
                <a:latin typeface="Calibri"/>
              </a:defRPr>
            </a:pPr>
            <a:r>
              <a:t>0.865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5696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-0.297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0" y="3474720"/>
            <a:ext cx="4389120" cy="27432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0" y="3566160"/>
            <a:ext cx="45720" cy="256032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9B72CF"/>
                </a:solidFill>
                <a:latin typeface="Calibri"/>
              </a:defRPr>
            </a:pPr>
            <a:r>
              <a:t>Statistical Insights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0" y="3886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scGPT consistently outperforms Geneformer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40873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across all 30 seeds (p &lt; 0.001)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0" y="42885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7498080" y="44897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Platelet shows highest variance (std=0.271)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0" y="46908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due to extremely low sample size (n=15)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0" y="4892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7498080" y="50932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scGPT achieves &gt;90% accuracy with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0" y="52943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very low variance (std=0.012)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80" y="54955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→ Robust and reliable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Results: Fine-tuning vs. Frozen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The dramatic impact of end-to-end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17/20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463040"/>
            <a:ext cx="10332720" cy="475488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965960"/>
            <a:ext cx="10332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Geneformer (Frozen)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61.3%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0.428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A9AA8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468880"/>
            <a:ext cx="10332720" cy="475488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scGPT (Frozen)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60.0%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D2D3F"/>
                </a:solidFill>
                <a:latin typeface="Calibri"/>
              </a:defRPr>
            </a:pPr>
            <a:r>
              <a:t>0.294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A9AA8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971800"/>
            <a:ext cx="103327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FFD700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B7A2B"/>
                </a:solidFill>
                <a:latin typeface="Calibri"/>
              </a:defRPr>
            </a:pPr>
            <a:r>
              <a:t>Geneformer (Fine-tuned)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B7A2B"/>
                </a:solidFill>
                <a:latin typeface="Calibri"/>
              </a:defRPr>
            </a:pPr>
            <a:r>
              <a:t>97.8%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B7A2B"/>
                </a:solidFill>
                <a:latin typeface="Calibri"/>
              </a:defRPr>
            </a:pPr>
            <a:r>
              <a:t>0.978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B7A2B"/>
                </a:solidFill>
                <a:latin typeface="Calibri"/>
              </a:defRPr>
            </a:pPr>
            <a:r>
              <a:t>+59.6%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840480"/>
            <a:ext cx="3200400" cy="2286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17DC1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"/>
              </a:defRPr>
            </a:pPr>
            <a:r>
              <a:t>61.3%  →  97.8%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17DC1"/>
                </a:solidFill>
                <a:latin typeface="Calibri"/>
              </a:defRPr>
            </a:pPr>
            <a:r>
              <a:t>+59.6% absolute improvement</a:t>
            </a:r>
            <a:br/>
            <a:r>
              <a:t>(97% relative improvement)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3840480"/>
            <a:ext cx="320040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CCA8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"/>
              </a:defRPr>
            </a:pPr>
            <a:r>
              <a:t>0.428  →  0.978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ECCA8"/>
                </a:solidFill>
                <a:latin typeface="Calibri"/>
              </a:defRPr>
            </a:pPr>
            <a:r>
              <a:t>+128% relative improvement</a:t>
            </a:r>
            <a:br/>
            <a:r>
              <a:t>Near-perfect on all classes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840480"/>
            <a:ext cx="3474720" cy="22860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931920"/>
            <a:ext cx="45720" cy="2103120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Implication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Fine-tuning is essential, not optional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453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8412480" y="46542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Frozen representations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8554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general patterns but miss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056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task-specific decision boundaries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57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8412480" y="5458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Confirms hypothesis H1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A9AA8"/>
                </a:solidFill>
                <a:latin typeface="Calibri"/>
              </a:defRPr>
            </a:pPr>
            <a:r>
              <a:t>What do these results mean?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18/20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4008" cy="1005840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417DC1"/>
                </a:solidFill>
                <a:latin typeface="Calibri"/>
              </a:defRPr>
            </a:pPr>
            <a:r>
              <a:t>Finding 1: Training Strategy &gt; Model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Both Geneformer and scGPT achieve similar frozen accuracy (~60%). The choice of fine-tuning vs. frozen matters far more than which model you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64008" cy="100584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ECCA8"/>
                </a:solidFill>
                <a:latin typeface="Calibri"/>
              </a:defRPr>
            </a:pPr>
            <a:r>
              <a:t>Finding 2: Fine-tuning Provides Dramatic Gains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97.8% accuracy after fine-tuning vs. 61.3% frozen. This 59.6% absolute improvement demonstrates that pretrained representations alone are insufficient.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64008" cy="100584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9B72CF"/>
                </a:solidFill>
                <a:latin typeface="Calibri"/>
              </a:defRPr>
            </a:pPr>
            <a:r>
              <a:t>Finding 3: Frozen Embeddings Show Limited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UMAP analysis reveals poor cluster separation in frozen embeddings, explaining the low classifier performance. scGPT shows somewhat better structure than Geneformer.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64008" cy="1005840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86F51"/>
                </a:solidFill>
                <a:latin typeface="Calibri"/>
              </a:defRPr>
            </a:pPr>
            <a:r>
              <a:t>Finding 4: Class Imbalance Remains Challenging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40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2D3F"/>
                </a:solidFill>
                <a:latin typeface="Calibri"/>
              </a:defRPr>
            </a:pPr>
            <a:r>
              <a:t>Rare cell types (Platelet, DC) show consistently lower and more variable F1 scores. This is exacerbated in frozen settings where the classifier has limited capacity.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B1B2F"/>
                </a:solidFill>
                <a:latin typeface="Calibri Light"/>
              </a:defRPr>
            </a:pPr>
            <a:r>
              <a:t>Limitations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19/20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9AA8"/>
                </a:solidFill>
                <a:latin typeface="Calibri"/>
              </a:defRPr>
            </a:pPr>
            <a:r>
              <a:t>Keisuke Nishioka | AI Foundation Models in Biomedicine | WiSe 2025/26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45720" cy="3931920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Limitations of This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scGPT fine-tuning not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(torchtext compatibility with PyTorch 2.9+)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Tabula Sapiens cross-dataset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87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not executed (50GB dataset, time constraints)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88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14400" y="299008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scFoundation model not publicly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9125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for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9242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14400" y="35935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PBMC3k is relatively small (2,700 cells)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94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May not represent complex tissue contexts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959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14400" y="41970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Only cell type classification evaluated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9826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Other tasks (perturbation, batch correction)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994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not assessed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463040"/>
            <a:ext cx="45720" cy="3931920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CCA8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Complete scGPT fine-tuning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9842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for full frozen vs. fine-tuned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85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83680" y="2386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Cross-dataset generalization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587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PBMC → Tabula Sapiens domain shift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88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583680" y="299008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Layer-wise analysis &amp; ablation studies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19125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Which layers benefit most from fine-tuning?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39242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583680" y="35935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Expand to additional downstream tasks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794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Gene perturbation, batch correction, etc.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9959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6583680" y="41970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• Larger-scale 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39826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PBMC 68k, multiple tissue types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5994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D2D3F"/>
                </a:solidFill>
                <a:latin typeface="Calibri"/>
              </a:defRPr>
            </a:pPr>
            <a:r>
              <a:t>   Statistical significance testing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ECCA8"/>
                </a:solidFill>
                <a:latin typeface="Calibri"/>
              </a:defRPr>
            </a:pPr>
            <a:r>
              <a:t>✓ All evaluation scripts are implemented and ready to run: run_all_evaluations.py | run_tabula_sapiens_evaluation.py | run_scfoundation_evaluation.py | run_geneformer_finetune_pbmc3k.py | run_scgpt_finetune_pbmc3k.py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 Light"/>
              </a:defRPr>
            </a:pPr>
            <a:r>
              <a:t>Conclusion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182880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417DC1"/>
                </a:solidFill>
                <a:latin typeface="Calibri"/>
              </a:defRPr>
            </a:pPr>
            <a:r>
              <a:t>61.3%</a:t>
            </a:r>
            <a:br/>
            <a:r>
              <a:t>→ 97.8%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E8E8EC"/>
                </a:solidFill>
                <a:latin typeface="Calibri"/>
              </a:defRPr>
            </a:pPr>
            <a:r>
              <a:t>Geneformer: Frozen → Fine-tuned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182880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2ECCA8"/>
                </a:solidFill>
                <a:latin typeface="Calibri"/>
              </a:defRPr>
            </a:pPr>
            <a:r>
              <a:t>+59.6%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E8E8EC"/>
                </a:solidFill>
                <a:latin typeface="Calibri"/>
              </a:defRPr>
            </a:pPr>
            <a:r>
              <a:t>Absolute Accuracy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3474720" cy="182880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9B72CF"/>
                </a:solidFill>
                <a:latin typeface="Calibri"/>
              </a:defRPr>
            </a:pPr>
            <a:r>
              <a:t>0.978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60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E8E8EC"/>
                </a:solidFill>
                <a:latin typeface="Calibri"/>
              </a:defRPr>
            </a:pPr>
            <a:r>
              <a:t>Fine-tuned Macro F1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E8EC"/>
                </a:solidFill>
                <a:latin typeface="Calibri"/>
              </a:defRPr>
            </a:pPr>
            <a:r>
              <a:t>1.  Fine-tuning is essential — frozen representations alone are insufficient for high-quality cell type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E8EC"/>
                </a:solidFill>
                <a:latin typeface="Calibri"/>
              </a:defRPr>
            </a:pPr>
            <a:r>
              <a:t>2.  Training strategy matters more than model choice — Geneformer and scGPT show similar frozen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E8EC"/>
                </a:solidFill>
                <a:latin typeface="Calibri"/>
              </a:defRPr>
            </a:pPr>
            <a:r>
              <a:t>3.  Pretrained representations capture general biological patterns but lack task-specific discriminability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E8EC"/>
                </a:solidFill>
                <a:latin typeface="Calibri"/>
              </a:defRPr>
            </a:pPr>
            <a:r>
              <a:t>4.  Systematic evaluation reveals that published benchmarks may overstate the utility of frozen representations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E8EC"/>
                </a:solidFill>
                <a:latin typeface="Calibri"/>
              </a:defRPr>
            </a:pPr>
            <a:r>
              <a:t>5.  A unified evaluation protocol is critical for fair comparison of single-cell foundation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10698480" cy="9144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ECCA8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A9AA8"/>
                </a:solidFill>
                <a:latin typeface="Calibri"/>
              </a:defRPr>
            </a:pPr>
            <a:r>
              <a:t>Keisuke Nishioka  |  10081049  |  Leibniz University of Hannover  |  WiSe 2025/26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1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